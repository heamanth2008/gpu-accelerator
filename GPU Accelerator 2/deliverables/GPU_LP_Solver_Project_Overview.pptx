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9e4555d0564a85" /><Relationship Type="http://schemas.openxmlformats.org/officeDocument/2006/relationships/extended-properties" Target="/docProps/app.xml" Id="R45ec8f27c0974a59" /><Relationship Type="http://schemas.openxmlformats.org/officeDocument/2006/relationships/officeDocument" Target="/ppt/presentation.xml" Id="R6f41f2d90e0842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acd4c464c64c99"/>
  </p:sldMasterIdLst>
  <p:notesMasterIdLst>
    <p:notesMasterId xmlns:r="http://schemas.openxmlformats.org/officeDocument/2006/relationships" r:id="Rd10e01efb319488e"/>
  </p:notesMasterIdLst>
  <p:sldIdLst>
    <p:sldId xmlns:r="http://schemas.openxmlformats.org/officeDocument/2006/relationships" id="256" r:id="Raf25fd4d7f734373"/>
    <p:sldId xmlns:r="http://schemas.openxmlformats.org/officeDocument/2006/relationships" id="257" r:id="R7a9edd4844844025"/>
    <p:sldId xmlns:r="http://schemas.openxmlformats.org/officeDocument/2006/relationships" id="258" r:id="R19d36816ff7e4bf1"/>
    <p:sldId xmlns:r="http://schemas.openxmlformats.org/officeDocument/2006/relationships" id="259" r:id="R02f17b6e41204838"/>
    <p:sldId xmlns:r="http://schemas.openxmlformats.org/officeDocument/2006/relationships" id="260" r:id="R1f79cc32cb6c41fa"/>
    <p:sldId xmlns:r="http://schemas.openxmlformats.org/officeDocument/2006/relationships" id="261" r:id="Rd46cf96f9ed64183"/>
    <p:sldId xmlns:r="http://schemas.openxmlformats.org/officeDocument/2006/relationships" id="262" r:id="Ra7e7bdb57f874b92"/>
    <p:sldId xmlns:r="http://schemas.openxmlformats.org/officeDocument/2006/relationships" id="263" r:id="Rf68d45e6daf04ff4"/>
    <p:sldId xmlns:r="http://schemas.openxmlformats.org/officeDocument/2006/relationships" id="264" r:id="R7bcee44636bd433d"/>
    <p:sldId xmlns:r="http://schemas.openxmlformats.org/officeDocument/2006/relationships" id="265" r:id="Rd572dec6fd2b4e3b"/>
    <p:sldId xmlns:r="http://schemas.openxmlformats.org/officeDocument/2006/relationships" id="266" r:id="Rf25a33a8fc6b4497"/>
    <p:sldId xmlns:r="http://schemas.openxmlformats.org/officeDocument/2006/relationships" id="267" r:id="Ra11134fa9941489d"/>
    <p:sldId xmlns:r="http://schemas.openxmlformats.org/officeDocument/2006/relationships" id="268" r:id="R87bc47d112a342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d452cb641c4efd" /><Relationship Type="http://schemas.openxmlformats.org/officeDocument/2006/relationships/slideMaster" Target="/ppt/slideMasters/slideMaster1.xml" Id="R83acd4c464c64c99" /><Relationship Type="http://schemas.openxmlformats.org/officeDocument/2006/relationships/notesMaster" Target="/ppt/notesMasters/notesMaster1.xml" Id="Rd10e01efb319488e" /><Relationship Type="http://schemas.openxmlformats.org/officeDocument/2006/relationships/presProps" Target="/ppt/presProps.xml" Id="R8bd93465d35148ad" /><Relationship Type="http://schemas.openxmlformats.org/officeDocument/2006/relationships/tableStyles" Target="/ppt/tableStyles.xml" Id="R6d873c08693e4251" /><Relationship Type="http://schemas.openxmlformats.org/officeDocument/2006/relationships/slide" Target="/ppt/slides/slide1.xml" Id="Raf25fd4d7f734373" /><Relationship Type="http://schemas.openxmlformats.org/officeDocument/2006/relationships/slide" Target="/ppt/slides/slide2.xml" Id="R7a9edd4844844025" /><Relationship Type="http://schemas.openxmlformats.org/officeDocument/2006/relationships/slide" Target="/ppt/slides/slide3.xml" Id="R19d36816ff7e4bf1" /><Relationship Type="http://schemas.openxmlformats.org/officeDocument/2006/relationships/slide" Target="/ppt/slides/slide4.xml" Id="R02f17b6e41204838" /><Relationship Type="http://schemas.openxmlformats.org/officeDocument/2006/relationships/slide" Target="/ppt/slides/slide5.xml" Id="R1f79cc32cb6c41fa" /><Relationship Type="http://schemas.openxmlformats.org/officeDocument/2006/relationships/slide" Target="/ppt/slides/slide6.xml" Id="Rd46cf96f9ed64183" /><Relationship Type="http://schemas.openxmlformats.org/officeDocument/2006/relationships/slide" Target="/ppt/slides/slide7.xml" Id="Ra7e7bdb57f874b92" /><Relationship Type="http://schemas.openxmlformats.org/officeDocument/2006/relationships/slide" Target="/ppt/slides/slide8.xml" Id="Rf68d45e6daf04ff4" /><Relationship Type="http://schemas.openxmlformats.org/officeDocument/2006/relationships/slide" Target="/ppt/slides/slide9.xml" Id="R7bcee44636bd433d" /><Relationship Type="http://schemas.openxmlformats.org/officeDocument/2006/relationships/slide" Target="/ppt/slides/slide10.xml" Id="Rd572dec6fd2b4e3b" /><Relationship Type="http://schemas.openxmlformats.org/officeDocument/2006/relationships/slide" Target="/ppt/slides/slide11.xml" Id="Rf25a33a8fc6b4497" /><Relationship Type="http://schemas.openxmlformats.org/officeDocument/2006/relationships/slide" Target="/ppt/slides/slide12.xml" Id="Ra11134fa9941489d" /><Relationship Type="http://schemas.openxmlformats.org/officeDocument/2006/relationships/slide" Target="/ppt/slides/slide13.xml" Id="R87bc47d112a342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d236f27a9242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14523ffeb949a5" /><Relationship Type="http://schemas.openxmlformats.org/officeDocument/2006/relationships/notesMaster" Target="/ppt/notesMasters/notesMaster1.xml" Id="Rcc088c250d0645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77d3c2f2ca44b9" /><Relationship Type="http://schemas.openxmlformats.org/officeDocument/2006/relationships/notesMaster" Target="/ppt/notesMasters/notesMaster1.xml" Id="Re07266ff821540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be3ceeb1b04cc9" /><Relationship Type="http://schemas.openxmlformats.org/officeDocument/2006/relationships/notesMaster" Target="/ppt/notesMasters/notesMaster1.xml" Id="R671a00d6a39c4a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24c7330b7444ba" /><Relationship Type="http://schemas.openxmlformats.org/officeDocument/2006/relationships/notesMaster" Target="/ppt/notesMasters/notesMaster1.xml" Id="Rdd576a0ba25648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df17e0a44344d1" /><Relationship Type="http://schemas.openxmlformats.org/officeDocument/2006/relationships/notesMaster" Target="/ppt/notesMasters/notesMaster1.xml" Id="Rc1c35c41f53d48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6f9af6dde04337" /><Relationship Type="http://schemas.openxmlformats.org/officeDocument/2006/relationships/notesMaster" Target="/ppt/notesMasters/notesMaster1.xml" Id="R4a5952f404a44a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17afb2a5114166" /><Relationship Type="http://schemas.openxmlformats.org/officeDocument/2006/relationships/notesMaster" Target="/ppt/notesMasters/notesMaster1.xml" Id="R49dfdda19d344a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b6fb6d51b748ac" /><Relationship Type="http://schemas.openxmlformats.org/officeDocument/2006/relationships/notesMaster" Target="/ppt/notesMasters/notesMaster1.xml" Id="R2ddbb5b5387c4c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1e95a510ac4e14" /><Relationship Type="http://schemas.openxmlformats.org/officeDocument/2006/relationships/notesMaster" Target="/ppt/notesMasters/notesMaster1.xml" Id="Rf2f952b535d540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c6e077a9734cf7" /><Relationship Type="http://schemas.openxmlformats.org/officeDocument/2006/relationships/notesMaster" Target="/ppt/notesMasters/notesMaster1.xml" Id="R913e55e8f7574c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9e8d8bdbc34521" /><Relationship Type="http://schemas.openxmlformats.org/officeDocument/2006/relationships/notesMaster" Target="/ppt/notesMasters/notesMaster1.xml" Id="Rde6f6bb0906745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bce888e8a2465f" /><Relationship Type="http://schemas.openxmlformats.org/officeDocument/2006/relationships/notesMaster" Target="/ppt/notesMasters/notesMaster1.xml" Id="Ree2a56a171b94c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b197d47bfc4de6" /><Relationship Type="http://schemas.openxmlformats.org/officeDocument/2006/relationships/notesMaster" Target="/ppt/notesMasters/notesMaster1.xml" Id="Rebfc851b3a6c48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facts based on the implemented workspace and verified runtime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scope: continuous linear programming. It does not solve integer or mixed-integer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based on the implemented source files in lpsolver/src and run.py.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Parser implementation: src/mps_parser.py. The listed limitations are intentional and documented in the project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inventory based on the delivered project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Versions verified during local setup. NVIDIA driver report: CUDA UMD Version 13.3.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HiGHS is accessed through scipy.optimize.linprog. GPU path implemented in src/gpu_solver.py.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Algorithm details derived from src/gpu_solver.py. PDHG uses constraint interval projections and variable-bound clipping.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local results from project execution. GPU values are approximate by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Commands reflect the installed local Python location and delivered run.py CLI.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Advantages and limitations are based on the actual implementation and RTX 2050 device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cuDSS scope verified against NVIDIA documentation: it is a direct sparse linear-system solver. It is not integrated into this LP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Recommended usage reflects the validation results and approximation status of the GPU solver.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e96d13da9441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ce8421ef554ded" /><Relationship Type="http://schemas.openxmlformats.org/officeDocument/2006/relationships/slideLayout" Target="/ppt/slideLayouts/slideLayout1.xml" Id="R29f6aa375bd544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f6aa375bd544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51090e16440aa" /><Relationship Type="http://schemas.openxmlformats.org/officeDocument/2006/relationships/notesSlide" Target="/ppt/notesSlides/notesSlide1.xml" Id="R40fe2bd0769d44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14e479ffe43df" /><Relationship Type="http://schemas.openxmlformats.org/officeDocument/2006/relationships/notesSlide" Target="/ppt/notesSlides/notesSlide2.xml" Id="R30c47dab79e943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e31e6df28426f" /><Relationship Type="http://schemas.openxmlformats.org/officeDocument/2006/relationships/notesSlide" Target="/ppt/notesSlides/notesSlide3.xml" Id="Rf30ba2416ec34b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1b7d00fc74637" /><Relationship Type="http://schemas.openxmlformats.org/officeDocument/2006/relationships/notesSlide" Target="/ppt/notesSlides/notesSlide4.xml" Id="Rb6fe41bccc6f46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4c7a66dc14b0f" /><Relationship Type="http://schemas.openxmlformats.org/officeDocument/2006/relationships/notesSlide" Target="/ppt/notesSlides/notesSlide5.xml" Id="R8002464e5d504d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0c41879da4484" /><Relationship Type="http://schemas.openxmlformats.org/officeDocument/2006/relationships/notesSlide" Target="/ppt/notesSlides/notesSlide6.xml" Id="R2691dcb6cb334e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dc41aaa4e417b" /><Relationship Type="http://schemas.openxmlformats.org/officeDocument/2006/relationships/notesSlide" Target="/ppt/notesSlides/notesSlide7.xml" Id="R2b80a45b00a440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a1851690c4671" /><Relationship Type="http://schemas.openxmlformats.org/officeDocument/2006/relationships/notesSlide" Target="/ppt/notesSlides/notesSlide8.xml" Id="R87747272f0ff43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385ef2c3748c5" /><Relationship Type="http://schemas.openxmlformats.org/officeDocument/2006/relationships/notesSlide" Target="/ppt/notesSlides/notesSlide9.xml" Id="R35f1390c61ee48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f1ca3811741bc" /><Relationship Type="http://schemas.openxmlformats.org/officeDocument/2006/relationships/notesSlide" Target="/ppt/notesSlides/notesSlide10.xml" Id="R69417378756d48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4ec8180f846e1" /><Relationship Type="http://schemas.openxmlformats.org/officeDocument/2006/relationships/notesSlide" Target="/ppt/notesSlides/notesSlide11.xml" Id="R5ba2bffbf5964b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c6497d0484130" /><Relationship Type="http://schemas.openxmlformats.org/officeDocument/2006/relationships/notesSlide" Target="/ppt/notesSlides/notesSlide12.xml" Id="R35468097e40949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5467508164d9e" /><Relationship Type="http://schemas.openxmlformats.org/officeDocument/2006/relationships/notesSlide" Target="/ppt/notesSlides/notesSlide13.xml" Id="R8c4651df168142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D9501-22AB-4D49-95FD-413DB525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57D09-6C5A-4253-8397-29D9621D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810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GPU-Accelerated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Linear Programming Solver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73149-E0DA-4D48-8F07-A371E868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242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9D9E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9D9E8"/>
                </a:solidFill>
                <a:latin typeface="Aptos"/>
                <a:ea typeface="Aptos"/>
                <a:cs typeface="Aptos"/>
              </a:rPr>
              <a:t>Project architecture, development tools, algorithms, validation, and operating guidance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F01A1-8C62-4FBB-A987-883FA563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F326F-BAF5-4E43-B86A-80E5A1C0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0C6C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0C6C6"/>
                </a:solidFill>
                <a:latin typeface="Aptos"/>
                <a:ea typeface="Aptos"/>
                <a:cs typeface="Aptos"/>
              </a:rPr>
              <a:t>CPU HiGHS + GPU CuPy PDHG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81DCE-07A9-487F-B628-2EF8D518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D9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9D9E8"/>
                </a:solidFill>
                <a:latin typeface="Aptos"/>
                <a:ea typeface="Aptos"/>
                <a:cs typeface="Aptos"/>
              </a:rPr>
              <a:t>Built and tested on an NVIDIA GeForce RTX 2050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B3DB6-BA3E-46EE-9FC3-EA0A4E44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ED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ED1"/>
                </a:solidFill>
                <a:latin typeface="Aptos"/>
                <a:ea typeface="Aptos"/>
                <a:cs typeface="Aptos"/>
              </a:rPr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12378517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733359-1849-4A35-8953-287C23A4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Project purpose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68BEA-E358-4570-91E0-B26D9693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082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A local tool that reads continuous LP models and solves them on CPU or GPU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F5461-F9D8-4C44-9531-A0E475F4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CDBEB-38E5-4500-91F2-21E645EF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34C58-8E38-4387-8038-5F0A490B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Solve a linear objective while respecting constraints and variable bounds.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9A745-C279-4870-B4B9-7CD75110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The delivered tool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E99E56-222B-4634-B337-11C1E0E9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7170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MPS parser, numerical scaling, CPU optimizer, GPU optimizer, benchmark, and command-line interface.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F0989-FE1B-40F0-98A2-09845F2B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7F004-BD6F-4CEE-A6F7-DCD69FD2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Example objective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DEBE9-3CAC-44E4-84E2-C2E4ADB5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minimize  2X1 + 3X2 + X3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4D9DBF-AD19-4197-AD0A-3622699A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Subject to limits such as capacity, demand, equality rules, and minimum or maximum values.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F1537C-165B-4712-85A4-23203508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GPU-Accelerated Linear Programming Solver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13B648-7B34-44BF-9C3A-44A109E4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374415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7F5D4E-C2C2-4CE2-B529-EB136079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End-to-end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B2600-E4AC-4BF3-8A68-04039430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082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The same MPS model feeds the CPU and GPU solver paths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BC8A6-4AD5-4548-A939-C23C8EF5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3B4AA-4AD4-42D6-97F0-30FA5280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870ED-46D0-4991-9E23-F0F9CF37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MPS 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DA16B-A62A-43C7-AEBA-57F36237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718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732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Rows, columns, RHS, bounds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6F52A-6C55-4445-98DE-F5901994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0517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C0642-CCF9-4A0C-A2BC-B485235B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62250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BF83D-F64B-4957-9AD8-1C440DE4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0375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Parser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EA232D-C74F-4B90-88EF-C162F420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3718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52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Reads standard text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94898-1B62-4BCE-9C34-50F426B2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0517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04AE6D-72A2-4788-8527-14E5A4FF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62250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398CD-3A70-4B09-AC47-C582F3E1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00375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LP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83DA91-A807-46A4-808F-34704A40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3718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Sparse matrix + vectors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2D300-74D8-4424-A1F7-A1B0362C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0517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35B0A5-A5A5-4E92-A84A-41D3C085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62250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EC17E3-2694-4F96-8A50-CECDEEFF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00375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Selected solver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A571E5-4DD2-4DA1-B29B-D3E1A42B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3718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HiGHS or GPU PDHG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D87AA9-9BB6-44CA-B422-BC9847DD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0517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6DB267-ED9F-4EC2-9FE3-A3C29E57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62250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86C457-1EB7-4C75-91F4-D176A9A8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00375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831EBD-6CA8-42F1-A752-1C0F9718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3718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Objective + variables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4E76FC-84FC-4072-91B6-B9E7FE81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528990-0FF2-4934-8843-7F4C0441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166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Free-format MPS model with objective, constraints, and bounds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9811D3-AB48-42C8-B2ED-E14E0EE7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76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Execution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62AA47-D9FA-4F8B-B256-83B07624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7625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CPU default for reliability. GPU option for large sparse models.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A09EAF-9709-472C-BA74-9108817C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478B1C-CAA1-47A6-9D64-E8A88F5D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5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Status, objective, variable values, elapsed time, and GPU diagnostics.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E595A0-FEC4-4D6F-B243-41FE6BEC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GPU-Accelerated Linear Programming Solver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B7C4AF-CD42-4828-B3B6-AC9AAE5B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339366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3927B3-96BE-4B31-81C2-81068590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Model input format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84572-30A2-4B61-B18D-E931327A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082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MPS is a widely used text format for linear programming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383D6-8631-4077-BBBA-3D478315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E4DF6-6E36-4BEE-9CD6-21B11A3C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1435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0E2FE-40D2-47EF-B890-D92F4B4E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46196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9F3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F3F2"/>
                </a:solidFill>
                <a:latin typeface="Aptos"/>
                <a:ea typeface="Aptos"/>
                <a:cs typeface="Aptos"/>
              </a:rPr>
              <a:t>NAME          GPUDEMO</a:t>
            </a:r>
          </a:p>
          <a:p xmlns:a="http://schemas.openxmlformats.org/drawingml/2006/main">
            <a:pPr>
              <a:defRPr sz="1125" b="0">
                <a:solidFill>
                  <a:srgbClr val="D9F3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F3F2"/>
                </a:solidFill>
                <a:latin typeface="Aptos"/>
                <a:ea typeface="Aptos"/>
                <a:cs typeface="Aptos"/>
              </a:rPr>
              <a:t>ROWS</a:t>
            </a:r>
          </a:p>
          <a:p xmlns:a="http://schemas.openxmlformats.org/drawingml/2006/main">
            <a:pPr>
              <a:defRPr sz="1125" b="0">
                <a:solidFill>
                  <a:srgbClr val="D9F3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F3F2"/>
                </a:solidFill>
                <a:latin typeface="Aptos"/>
                <a:ea typeface="Aptos"/>
                <a:cs typeface="Aptos"/>
              </a:rPr>
              <a:t> N  COST</a:t>
            </a:r>
          </a:p>
          <a:p xmlns:a="http://schemas.openxmlformats.org/drawingml/2006/main">
            <a:pPr>
              <a:defRPr sz="1125" b="0">
                <a:solidFill>
                  <a:srgbClr val="D9F3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F3F2"/>
                </a:solidFill>
                <a:latin typeface="Aptos"/>
                <a:ea typeface="Aptos"/>
                <a:cs typeface="Aptos"/>
              </a:rPr>
              <a:t> L  CAPACITY</a:t>
            </a:r>
          </a:p>
          <a:p xmlns:a="http://schemas.openxmlformats.org/drawingml/2006/main">
            <a:pPr>
              <a:defRPr sz="1125" b="0">
                <a:solidFill>
                  <a:srgbClr val="D9F3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F3F2"/>
                </a:solidFill>
                <a:latin typeface="Aptos"/>
                <a:ea typeface="Aptos"/>
                <a:cs typeface="Aptos"/>
              </a:rPr>
              <a:t> G  MINIMUM</a:t>
            </a:r>
          </a:p>
          <a:p xmlns:a="http://schemas.openxmlformats.org/drawingml/2006/main">
            <a:pPr>
              <a:defRPr sz="1125" b="0">
                <a:solidFill>
                  <a:srgbClr val="D9F3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F3F2"/>
                </a:solidFill>
                <a:latin typeface="Aptos"/>
                <a:ea typeface="Aptos"/>
                <a:cs typeface="Aptos"/>
              </a:rPr>
              <a:t>COLUMNS</a:t>
            </a:r>
          </a:p>
          <a:p xmlns:a="http://schemas.openxmlformats.org/drawingml/2006/main">
            <a:pPr>
              <a:defRPr sz="1125" b="0">
                <a:solidFill>
                  <a:srgbClr val="D9F3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F3F2"/>
                </a:solidFill>
                <a:latin typeface="Aptos"/>
                <a:ea typeface="Aptos"/>
                <a:cs typeface="Aptos"/>
              </a:rPr>
              <a:t>    PRODUCT_A  COST  5.0  CAPACITY 2.0</a:t>
            </a:r>
          </a:p>
          <a:p xmlns:a="http://schemas.openxmlformats.org/drawingml/2006/main">
            <a:pPr>
              <a:defRPr sz="1125" b="0">
                <a:solidFill>
                  <a:srgbClr val="D9F3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F3F2"/>
                </a:solidFill>
                <a:latin typeface="Aptos"/>
                <a:ea typeface="Aptos"/>
                <a:cs typeface="Aptos"/>
              </a:rPr>
              <a:t>    PRODUCT_B  COST  3.0  CAPACITY 1.0</a:t>
            </a:r>
          </a:p>
          <a:p xmlns:a="http://schemas.openxmlformats.org/drawingml/2006/main">
            <a:pPr>
              <a:defRPr sz="1125" b="0">
                <a:solidFill>
                  <a:srgbClr val="D9F3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F3F2"/>
                </a:solidFill>
                <a:latin typeface="Aptos"/>
                <a:ea typeface="Aptos"/>
                <a:cs typeface="Aptos"/>
              </a:rPr>
              <a:t>RHS</a:t>
            </a:r>
          </a:p>
          <a:p xmlns:a="http://schemas.openxmlformats.org/drawingml/2006/main">
            <a:pPr>
              <a:defRPr sz="1125" b="0">
                <a:solidFill>
                  <a:srgbClr val="D9F3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F3F2"/>
                </a:solidFill>
                <a:latin typeface="Aptos"/>
                <a:ea typeface="Aptos"/>
                <a:cs typeface="Aptos"/>
              </a:rPr>
              <a:t>    RHS        CAPACITY 100.0  MINIMUM 40.0</a:t>
            </a:r>
          </a:p>
          <a:p xmlns:a="http://schemas.openxmlformats.org/drawingml/2006/main">
            <a:pPr>
              <a:defRPr sz="1125" b="0">
                <a:solidFill>
                  <a:srgbClr val="D9F3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F3F2"/>
                </a:solidFill>
                <a:latin typeface="Aptos"/>
                <a:ea typeface="Aptos"/>
                <a:cs typeface="Aptos"/>
              </a:rPr>
              <a:t>BOUNDS</a:t>
            </a:r>
          </a:p>
          <a:p xmlns:a="http://schemas.openxmlformats.org/drawingml/2006/main">
            <a:pPr>
              <a:defRPr sz="1125" b="0">
                <a:solidFill>
                  <a:srgbClr val="D9F3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F3F2"/>
                </a:solidFill>
                <a:latin typeface="Aptos"/>
                <a:ea typeface="Aptos"/>
                <a:cs typeface="Aptos"/>
              </a:rPr>
              <a:t> LO BND        PRODUCT_A 0.0</a:t>
            </a:r>
          </a:p>
          <a:p xmlns:a="http://schemas.openxmlformats.org/drawingml/2006/main">
            <a:pPr>
              <a:defRPr sz="1125" b="0">
                <a:solidFill>
                  <a:srgbClr val="D9F3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F3F2"/>
                </a:solidFill>
                <a:latin typeface="Aptos"/>
                <a:ea typeface="Aptos"/>
                <a:cs typeface="Aptos"/>
              </a:rPr>
              <a:t>ENDATA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1468A-8E47-40BF-B08C-A2DD8CA4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6692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93274-A8D8-42B0-B47A-7024B362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00250"/>
            <a:ext cx="3962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A4328-4C54-4060-9306-C8EBCF6A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57425"/>
            <a:ext cx="3962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N identifies the objective. L, G, and E represent ≤, ≥, and = constraints.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A20C3-8902-4318-97CA-2C9E4792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670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792280-B65C-4701-8C27-5615E2E7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00375"/>
            <a:ext cx="3962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COLUMNS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BD6A5-B501-4436-B720-9CC1BD5D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57550"/>
            <a:ext cx="3962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Each variable receives coefficients in the objective and applicable constraint rows.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04AF1B-2720-43F8-9258-BFE087D0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671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95788F-2066-42A1-ADCC-D8796327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3962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RHS and BOUNDS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132E4-CD99-426A-B200-A00A10C8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57675"/>
            <a:ext cx="3962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The parser reads right-hand-side values plus lower and upper limits for each variable.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DC44E6-544B-4D08-8109-9C0DD405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9112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C4B5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C4B5A"/>
                </a:solidFill>
                <a:latin typeface="Aptos"/>
                <a:ea typeface="Aptos"/>
                <a:cs typeface="Aptos"/>
              </a:rPr>
              <a:t>Supported: continuous LP ROWS, COLUMNS, RHS, and BOUNDS. Not included: integer markers and RANGES.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D6AF01-48F4-4C6B-9030-E3C48CDF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GPU-Accelerated Linear Programming Solver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626A58-4D7E-45B5-AE82-161D784D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69354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BCE4F4-0AC1-4C69-BED0-5904F5C0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Software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379C0-EB56-43EE-9CC5-581A7BA1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082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Each module has a narrow responsibility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1DF2D-F1B4-4341-89E5-1CD4B20E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0EB64-9871-4BC8-BF96-E0ABD572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853AA-A5D7-4872-9020-28A72467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28800"/>
            <a:ext cx="2238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mps_parser.py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9B218-A476-4A39-BB97-A4536566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022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Parses MPS into an LPModel with a SciPy CSR sparse matrix.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87D23-2491-496F-83C6-70BE319D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E6702-CD70-4F23-8E31-8414FD6A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66975"/>
            <a:ext cx="2238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presolver.py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90821-7BD7-4177-920D-9A6DB3EF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384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Applies Ruiz row and column scaling for better numerical conditioning.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7C013-7CE2-41DC-8A09-E107B81A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B3C14F-89C5-4065-9CF3-2A3E903E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238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solver.py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E977A2-DC24-4F3D-A56F-67BD09C4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7657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Calls SciPy linprog with the HiGHS production LP backend.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9A7849-AEAD-4903-A3EF-DB1E5F95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9025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C395F6-1146-41E6-BCE6-998AF331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43325"/>
            <a:ext cx="2238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gpu_solver.py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8E516-CC30-4405-9E3E-78F89117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Runs CuPy PDHG iterations on the NVIDIA GPU.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812BB-3F38-4DD2-B05D-EC6B791B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E575E8-2158-4A42-B921-2A0EB2EF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2238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run.py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6B4F5B-4382-46F1-BE4C-811F5E9E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5292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Selects the model and backend, then prints results.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9A9B6F-33FE-492C-A3FC-2BD2E92C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B6D258-4DC8-41F8-9F9F-9D55C607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9675"/>
            <a:ext cx="2238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benchmark.py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01C798-B572-4D6B-919D-0297A667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91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Generates feasible random LPs and records actual CPU solve time.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2F2374-744C-47C5-B310-2534042B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GPU-Accelerated Linear Programming Solver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87DD18-7E4A-4548-B527-ED1D1425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175125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3BFA07-60C7-4E82-BC50-23F88F48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Development environment and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C09FE-2AC6-4303-A9AB-D4E28B99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082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The project combines open-source scientific computing libraries with local NVIDIA hardware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26142-FE3E-47FE-89AC-C0649B53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6409B-2C3E-457A-9759-0FF58C00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Runtime and language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C6E8A-9C59-46B0-96ED-820FF522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6BDEB7-2DC7-48ED-934C-4BC91FAC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424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Python 3.13.15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2F95E-FD43-4293-9A2E-E90A16F4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52675"/>
            <a:ext cx="424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Runs the parser, CPU solver, GPU solver, commands, and tests.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E6AF8-724B-4732-8547-1C17F771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8D55D-4B43-4D38-993A-F9D4350A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424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PowerShell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1F097-E765-4911-8E4F-18510A62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424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Used to install packages and run the project from Windows.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C7921-F78F-43AE-9478-4C6FC8E7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CPU 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42466-2350-49A1-8C7F-C31D3FAD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621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AAFAD-E306-47DD-BC5E-BB014080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453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NumPy 2.5.2 and SciPy 1.18.1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85DFE-5553-4EFF-A431-1CF0476F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5267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Dense vectors, sparse matrices, and the HiGHS optimizer interface.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914F42-D7F5-4927-B1EC-5CE74627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F0618-C109-4896-8AF0-3A7A4160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0375"/>
            <a:ext cx="453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pandas 3.0.5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FF7ACA-14FE-4A12-9081-04A8B9B8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57550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Installed for benchmark-table reporting and data handling.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66C3E4-DCFA-4853-9D30-E890604B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E8B5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E8B57"/>
                </a:solidFill>
                <a:latin typeface="Aptos"/>
                <a:ea typeface="Aptos"/>
                <a:cs typeface="Aptos"/>
              </a:rPr>
              <a:t>GPU stack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49DC4A-F2B7-42BF-8148-D63FABF8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5CA0B5-F9F0-4AA5-A837-E3231143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424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CuPy 14.2.0 with CUDA 13.3 runtime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149EDA-D3F2-45E7-981E-43C25736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24425"/>
            <a:ext cx="424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Provides GPU arrays and sparse matrix operations.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D89CBE-8117-4BA2-BEF5-12DE36CC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3392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3417AA-C0FD-4580-A948-03536E77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67250"/>
            <a:ext cx="453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NVIDIA GeForce RTX 2050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58ABB9-C2DC-4122-AEA9-D53E224E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24425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Verified device used by the CuPy GPU backend.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CA8F73-C953-4AF1-827F-A992E31D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GPU-Accelerated Linear Programming Solver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D0F009-8095-418A-B482-8A88AFDF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345657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1207D5-F903-4CE0-BAF3-97E2FCC5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Why two solver paths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4481A-DBFF-4CBA-9567-E335377A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082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CPU and GPU solve different practical parts of the problem 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70A4B-4BFB-45C1-AB5E-49C0D4B7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6B13E-46DC-4BD7-9B6B-08051CFA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A02A41-646E-40CA-8A2E-ED3828D6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CPU path: SciPy HiGHS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16430-CB70-4B67-92E4-8CA0BFF8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336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EB141-8CCA-4076-B2F8-69FE409F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667000"/>
            <a:ext cx="3581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CE2E12-1FF8-4671-903F-46EB0099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924175"/>
            <a:ext cx="3581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Production LP methods through SciPy linprog.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FFA2BF-42BD-4CA2-AA61-ACD80BE7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956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94CF9-14B4-4699-AC79-8CC9477F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429000"/>
            <a:ext cx="3581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Result 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CA08F-96AD-4B3E-AA50-91F5E33B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686175"/>
            <a:ext cx="3581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Exact production-grade status such as optimal.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30924-2FEB-4AA1-BDB6-6542EA19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576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08DAC-C2D5-4D31-BB69-36C61632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191000"/>
            <a:ext cx="3581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Best 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D92BD-2597-4068-B363-A6B09500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448175"/>
            <a:ext cx="3581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Small and medium models, or any model that needs a precise result.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3468F-2E70-4471-BD9C-C0C2F0A5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535CB8-FE99-4AE8-9565-7ACC9C6F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1145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GPU path: CuPy PDHG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6B1E6B-86DA-4F4E-A4CD-4B9C1D5F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7336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0C6C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333407-B36B-4F7D-9F9C-AA689D55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67000"/>
            <a:ext cx="3581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9EB830-D15A-4636-9E55-1E0FE0FC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24175"/>
            <a:ext cx="3581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First-order primal-dual iterations built from sparse GPU products.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97CD68-B8E0-4562-B0EB-E6B85E36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4956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0C6C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C7E4CB-2AD4-43F4-962A-EFC07AB3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29000"/>
            <a:ext cx="3581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Result type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2D2131-A025-4D73-8066-76FD529C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86175"/>
            <a:ext cx="3581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Approximate objective plus maximum constraint violation.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C4CEC7-928E-46E3-8C63-86D63A56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2576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0C6C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E38F5B-C64C-42D0-B2F3-F89C25B9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191000"/>
            <a:ext cx="3581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Best use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4433B5-60A1-4AF1-B25C-A9FDF78C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48175"/>
            <a:ext cx="3581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Large sparse models where many iterations amortize GPU setup.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5F2CC2-DF61-4D8F-AD22-4172112F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The CLI exposes this choice with  --backend highs  or  --backend gpu.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94F6C5-426B-4A89-8F49-8F5CD10A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GPU-Accelerated Linear Programming Solver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FEECA6-3505-4683-94EC-31916AFA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634399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8B0E9D-4807-4E05-92D2-745A9EE7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GPU algorithm: PDHG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F8299-95DA-4D8A-9C26-5A740CBA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082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The GPU repeatedly projects variable and constraint values while multiplying by a sparse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2886B-AA55-4F46-B3E8-EB8695F1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760EE-1DA4-4AE0-B8FA-919A00BD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286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9CB519-E518-45F3-A6F4-25731C58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13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7E50A-16FA-4F0E-AE7E-B6E61183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D0108-53CD-428C-9DE3-29171630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1857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Copy sparse A, objective c, bounds, and constraints to GPU memory.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87C71-70A7-4FFB-8D67-5C3A96A4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86000"/>
            <a:ext cx="2286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870056-F1E3-48F0-93C8-CF7BF362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13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0C6C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50C6C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7A43B9-CC2B-4655-99C3-1617DE25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33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Dual update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5571D-2B68-4E3D-B42A-4696C9E3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52800"/>
            <a:ext cx="1857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9F3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F3F2"/>
                </a:solidFill>
                <a:latin typeface="Aptos"/>
                <a:ea typeface="Aptos"/>
                <a:cs typeface="Aptos"/>
              </a:rPr>
              <a:t>Compute A × x and project the constraint multipliers.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AC7F61-67A8-4C7A-8FC7-3E48B90A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86000"/>
            <a:ext cx="2286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9EF73-4EF9-4DB5-83CC-2E119F1C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13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0C6C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50C6C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0BA943-16E4-483B-902E-A2280939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33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Primal update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E9E470-A214-46C7-9905-7F7B66C8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1857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9F3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F3F2"/>
                </a:solidFill>
                <a:latin typeface="Aptos"/>
                <a:ea typeface="Aptos"/>
                <a:cs typeface="Aptos"/>
              </a:rPr>
              <a:t>Compute Aᵀ × y, apply the objective gradient, and clip variable bounds.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730AA6-14A6-49B3-A44D-878BF63E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286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AD7272-4216-4DF2-B1DF-64289EB5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13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683DEB-0B30-4DD1-804E-23580194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33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484840-A348-47D3-B5C4-52122E26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52800"/>
            <a:ext cx="1857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Measure constraint violation and relative movement at intervals.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D69F76-26FD-4A9F-918C-C3E0E44B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Stability condition: the step sizes use an estimate of the spectral norm of 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63A252-1F7B-4825-A0DA-4EA5F375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C4B5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C4B5A"/>
                </a:solidFill>
                <a:latin typeface="Aptos"/>
                <a:ea typeface="Aptos"/>
                <a:cs typeface="Aptos"/>
              </a:rPr>
              <a:t>The final status is “approximate” because first-order iterations use tolerances instead of simplex crossover.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510FFE-D43F-4FE9-9B72-18479CD0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GPU-Accelerated Linear Programming Solver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5CA3F7-975B-4455-947E-12A1F158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748801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1BD0FC-E63B-47F8-AC1F-679D6B5C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Validation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C809C-1337-4C61-BEF3-95567660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082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The sample model passed both solver paths and the GPU reached the same answer within tolerance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BB5A5-4886-47D1-B3E1-191ED373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62EE7-6E5C-46F9-AB61-6BAE1B33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45B59-5C93-4136-963C-D241267A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78700-9241-47F0-8C4E-6FFBF202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764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1EF02-4D0A-423F-9243-016E07E9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07645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71433-F26E-4F29-AD74-9860667D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764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69811-500E-446E-B398-22096EC5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764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CECDB5-FAEA-4D63-8C45-55BDFEA1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70EC9-201B-476F-BC6E-8A27A15D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GPU CuPy PDHG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A048A7-D60C-4566-ACA8-E66C43DF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146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approximate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4A84AC-7082-4319-AEAE-445A8D2E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71462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2.99999799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7D36D0-44E9-4516-B71E-863668C0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146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[0, 0, 2.99999799]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577995-8669-4F81-9004-17E09767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14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violation 2.01e-06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BF580-2E70-4A71-922A-C04C4481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623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CPU HiGHS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49C601-402B-4917-8672-586A421D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623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optimal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4CD89F-120B-492D-A522-7FBEBF97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36232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3.0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9E7BF6-BB7A-4DEA-B98B-766DCE47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623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[0, 0, 3.0]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D01A19-67A8-4F13-9136-9F0C8D0F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623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reference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8447F3-EE7C-43C5-93FD-5C8E04DF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CPU benchmark results: 5×5 5.11 ms, 20×20 2.36 ms, 100×100 4.83 ms, 200×200 10.00 ms.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A4966E-8E23-42BC-BE04-CBB35FC7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These measurements validate the CPU benchmark. They do not claim a GPU speedup on small models.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6814F7-F5FC-4646-97D3-3029F005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GPU-Accelerated Linear Programming Solver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E76969-C36A-448A-8BD9-77DED7E7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710879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1C5AF-F4D5-4310-A5B7-807EFBA3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How to run 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DF8AC-83A4-4C05-8102-A0AA8258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082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Choose the backend at the command line after saving an MPS 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3D9B1-07FC-4F5C-A294-DB7394CB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0706C-A344-4EB7-A5CD-1C999C1C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1. Open PowerShell and enter the project folder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39FE6-23F5-4532-A7D2-C4F0DD8A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98583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75442-A65A-450C-8230-74264421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7647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cd "C:\Users\G HEMANTH\OneDrive\Documents\ChatGPT\GPU Accelerator 2\lpsolver"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3A756-FE57-442D-87E6-BD502ABB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2. Run the included sample on GPU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9AC68-6043-41D8-996A-C28150AC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0820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53ABF-02A3-473F-AC19-FA794D54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&amp; "$env:LocalAppData\Programs\Python\Python313\python.exe" run.py --backend gpu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607BF-C6C2-4858-A16D-1FD7348C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3. Solve your own MPS 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4A864C-69F0-4250-BFE0-A3D9F7F4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820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82C03-2067-4115-ADE1-16E16FF1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&amp; "$env:LocalAppData\Programs\Python\Python313\python.exe" run.py "C:\path\to\model.mps" --backend gpu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FED4F-A768-49D1-B23E-82626789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For a precise cross-check, replace gpu with highs.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439187-22F9-4866-B861-BB1FA3B7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GPU-Accelerated Linear Programming Solver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1F0667-AA67-4BBA-A4E8-AC62F568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834019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F192D0-8E6A-493C-B980-FB4CA073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Advantages and disadvantages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BEE36-AB50-4F5B-9E56-0DBF6101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082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The implementation prioritizes transparency and useful behavior over unsupported GPU claims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9016E-A228-4655-9898-3DDBE209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2CB03-BC80-4BAF-882B-A7F1AA16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38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8B5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E8B57"/>
                </a:solidFill>
                <a:latin typeface="Aptos"/>
                <a:ea typeface="Aptos"/>
                <a:cs typeface="Aptos"/>
              </a:rPr>
              <a:t>Advantages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47BA5-98D9-4DC6-8CF8-75DE11B7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DD443-2B5B-4144-A5E1-855CBFE2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453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Standard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64545-D5B2-4ACB-A736-EA80A35A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MPS files let users describe real LPs outside the codebase.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74CAA-73A6-467D-8D46-6838B975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CEFF7-F4AE-4635-AD67-55A824DC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95625"/>
            <a:ext cx="453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Reliable CPU reference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270FF-10C1-4303-8226-EB4D0978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HiGHS provides an independent, accurate baseline.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395B8-3966-4D9F-B210-54590249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0B2634-00AC-4F96-9618-667547C0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453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Actual GPU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8197D-DDB3-43E8-812B-3BD4EFC9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CuPy performs sparse iteration on the verified RTX 2050.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04A29-2D21-43D6-88AC-253090D9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0EDBEE-B636-4B03-90C1-B8EF2839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453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Measured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F79E34-9C1D-465B-B2B2-7E885151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The project reports actual times and numerical diagnostics.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1FCC12-F5ED-4133-A886-FDF05EAB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621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38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C4B5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CC4B5A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47CE78-3B26-4D92-BED3-12E8B213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050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4B5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76C488-22C5-4ADD-8F88-94AC9FF7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53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GPU is approximate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548F3E-72AE-4F58-9967-61676445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95550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PDHG stops at a tolerance and may need more iterations for difficult models.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D66CDB-8A93-4D35-947B-1D255ECA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623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4B5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DA67E1-1AA6-4827-9668-56B46C91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95625"/>
            <a:ext cx="453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Small models favor CPU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CF3EEC-4762-40C2-A0E2-1022A1C0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52800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Transfer and launch overhead can exceed GPU compute time.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08F367-5DAB-4C8E-A6FB-D4A5E1CD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195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4B5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0183E7-3BCE-49F6-8F61-31B477B3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52875"/>
            <a:ext cx="453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LP only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D2EFB5-E641-410C-97E6-41A2ACBF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10050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No integer variables, MIP branch-and-bound, or MPS RANGES support.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4384B0-7D73-428B-BCE1-3CB61DC6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768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4B5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F0C84C-4FA7-4BD6-8ADB-CDB63064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0125"/>
            <a:ext cx="453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4 GB GPU memory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BD8AA7-E257-4019-9F78-CE3F7992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67300"/>
            <a:ext cx="4533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Very large matrices can exceed device memory.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77CC9B-8424-484F-A596-CF4717E0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GPU-Accelerated Linear Programming Solver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0BC59F-6675-4828-87E9-B20084F2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402780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B8C865-232A-4927-819A-202D01EF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Resource decisions and rationale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18848-609B-4294-B213-452C0B21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082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Each dependency serves a specific part of the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ACCEA-CC1D-407F-B032-C0650977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96449-E1FC-4C96-BAF9-ACADA635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MPS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57D00-01E8-4167-9656-1F8AF317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33550"/>
            <a:ext cx="766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Portable input format for LP models.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BC5BF-6D6D-4251-AD46-74341B72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1014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BB2AF-BF3D-4CCB-88A6-B224AF2A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SciPy / HiGHS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970D3F-651E-42D4-8939-6F78A9C3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766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Trusted CPU reference and exact solver outcome.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03B21-69AC-41BB-9CAE-5D17327E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014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5D8E3-4B02-4BF6-88B2-B09E7B84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Ruiz scaling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3631E-286A-4238-B40F-4D89050E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90850"/>
            <a:ext cx="766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Reduces coefficient magnitude differences before iterative work.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BA347-686D-4352-A0FA-69673B69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1014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6739E3-E735-42DD-9C42-BAE42648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CuPy + CUDA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F67C0C-1D08-4107-86D1-EC36306C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19500"/>
            <a:ext cx="766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Moves sparse matrix-vector operations and projections to the GPU.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C76AE8-BF30-467C-9252-B0237408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1014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01C4B8-B3F4-411F-B9B2-230FFB83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PDHG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89EB6A-108F-4386-B297-7725F333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48150"/>
            <a:ext cx="766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A GPU-friendly first-order method for large sparse LPs.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54DB52-5067-4939-B7C2-D4B79EE2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14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EF721D-2D3F-4E70-A922-B3086224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cuDSS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85269F-979D-4D58-8C57-AA9D6636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76800"/>
            <a:ext cx="766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7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Downloaded resource, but not used in this LP implementation because it solves Ax = b rather than optimization.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AE8485-0317-4FE8-991C-0F3A0C9F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4475"/>
            <a:ext cx="1014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B08A09-20F8-4789-815A-4D873333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GPU-Accelerated Linear Programming Solver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642B07-C16C-4CB6-A7CA-615D7E63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771145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42DBE-F42B-4B83-8F62-7B42DA7F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7EFDF-EE66-45D1-8DB6-8C909C47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Recommended operating 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157442-D2E7-49E5-9CC7-E6AC93D5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F3F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9F3F2"/>
                </a:solidFill>
                <a:latin typeface="Aptos"/>
                <a:ea typeface="Aptos"/>
                <a:cs typeface="Aptos"/>
              </a:rPr>
              <a:t>Use the CPU backend as the decision-grade reference. Use the GPU backend for large sparse experiments and compare the answer against CPU when possible.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F3DC7-A2A2-4512-80D0-FF5E7E30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4953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43B5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29065-02AD-46E6-AC81-DF6EF21A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0C6C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0C6C6"/>
                </a:solidFill>
                <a:latin typeface="Aptos"/>
                <a:ea typeface="Aptos"/>
                <a:cs typeface="Aptos"/>
              </a:rPr>
              <a:t>For everyday LP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7280E-35AA-4DE4-ABDF-16EAD47B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6237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Run  --backend highs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Expect an optimal status and stable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CD8A4-558C-43B5-B68A-6C618C8A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95625"/>
            <a:ext cx="4953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43B5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1C11B-6C89-4A76-A59E-81CB5C80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718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0C6C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0C6C6"/>
                </a:solidFill>
                <a:latin typeface="Aptos"/>
                <a:ea typeface="Aptos"/>
                <a:cs typeface="Aptos"/>
              </a:rPr>
              <a:t>For large sparse LP models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0AF4D-424B-4CC5-A7E1-FEDE286E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6237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Run  --backend gpu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Review objective and constraint violation.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135C0-124C-4155-8879-A4D69B55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D9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9D9E8"/>
                </a:solidFill>
                <a:latin typeface="Aptos"/>
                <a:ea typeface="Aptos"/>
                <a:cs typeface="Aptos"/>
              </a:rPr>
              <a:t>Future work: richer MPS support, automated CPU-GPU comparison reports, adaptive step sizes, and large-scale test datasets.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59526-8ACD-437D-AAB0-15B990FD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98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ED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ED1"/>
                </a:solidFill>
                <a:latin typeface="Aptos"/>
                <a:ea typeface="Aptos"/>
                <a:cs typeface="Aptos"/>
              </a:rPr>
              <a:t>End of 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996005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2026-09-05T15:51:52.3510000Z</dcterms:created>
  <dcterms:modified xsi:type="dcterms:W3CDTF">2026-09-05T15:51:52.3510000Z</dcterms:modified>
</coreProperties>
</file>